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0:00 · Nicht mit Blockchain anfangen. Titel steht, direkt weiter zu Folie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0:10 · In seinem Problem eröffnen, nicht bei uns. Kernwort: Schwankung, nicht Energie.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0:45 · DATUM VOR FREITAG PRÜFEN (Stromgesetz/StromVV). Baumann kennt es exakt. Im Zweifel Folie auf 'Seit diesem Jahr.' 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1:10 · Zwei Menschen schlagen jede Marktgrössen-Grafik. Vreni gut einführen — sie kommt auf Folie 11 zurück.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2:20 · DIE Folie. Satz sagen, dann ZWEI SEKUNDEN SCHWEIGEN. Nichts erklären, nichts ergänzen.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3:10 · Hier auf das Dashboard umschalten. Reihenfolge: Haushalte → Trade-Netzwerk → Batterie-Status/SoC → dann zurück auf Folie 7 für die Zahlen. Backup-Aufnahme bereithalten.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5:00 · Alle vier Zahlen sind aus forecast_model.py reproduzierbar. Die 0,2433 ist der Satz, der die Technologie-Note holt.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6:20 · Stärkste 60 Sekunden auf 'Technologisches Wissen'. Frage selbst stellen, bevor Käppeli sie stellt. Dann: Abrechnung blockiert nie den Strom.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7:20 · Wichtigster Satz: der VNB bezahlt, nicht der Haushalt. Marktzahlen nur nennen, wenn vorher geprüft.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8:30 · Keine Adjektive, nur Belege. Der Rauschniveau-Satz ist für eine Energie-Jury der überzeugendste im ganzen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SOLL 9:15 · Vreni-Limitation offen benennen, das macht sie zum Ask. Letzten Satz sagen und AUFHÖREN.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6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80">
                <a:solidFill>
                  <a:srgbClr val="49C9B0"/>
                </a:solidFill>
                <a:latin typeface="Consolas"/>
              </a:rPr>
              <a:t>P2P-ENERGIEMARKT  ·  ABRECHNUNGSSCHICHT FÜR LOKALE ELEKTRIZITÄTSGEMEINSCHAFTEN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899096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9000"/>
              </a:lnSpc>
              <a:spcAft>
                <a:spcPts val="0"/>
              </a:spcAft>
            </a:pPr>
            <a:r>
              <a:rPr sz="6800" b="1" spc="-176">
                <a:solidFill>
                  <a:srgbClr val="E7EDEF"/>
                </a:solidFill>
                <a:latin typeface="Segoe UI"/>
              </a:rPr>
              <a:t>Planbarkeit</a:t>
            </a:r>
          </a:p>
          <a:p>
            <a:pPr algn="l">
              <a:lnSpc>
                <a:spcPct val="99000"/>
              </a:lnSpc>
              <a:spcAft>
                <a:spcPts val="0"/>
              </a:spcAft>
            </a:pPr>
            <a:r>
              <a:rPr sz="6800" b="1" spc="-176">
                <a:solidFill>
                  <a:srgbClr val="E7EDEF"/>
                </a:solidFill>
                <a:latin typeface="Segoe UI"/>
              </a:rPr>
              <a:t>statt Verzicht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77639"/>
            <a:ext cx="731822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8B98A0"/>
                </a:solidFill>
                <a:latin typeface="Segoe UI"/>
              </a:rPr>
              <a:t>Wir bezahlen Haushalte nicht dafür, weniger Strom zu verbrauchen.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8B98A0"/>
                </a:solidFill>
                <a:latin typeface="Segoe UI"/>
              </a:rPr>
              <a:t>Wir bezahlen sie dafür, </a:t>
            </a:r>
            <a:r>
              <a:rPr sz="1700" b="0">
                <a:solidFill>
                  <a:srgbClr val="E2A339"/>
                </a:solidFill>
                <a:latin typeface="Segoe UI"/>
              </a:rPr>
              <a:t>planbar</a:t>
            </a:r>
            <a:r>
              <a:rPr sz="1700" b="0">
                <a:solidFill>
                  <a:srgbClr val="8B98A0"/>
                </a:solidFill>
                <a:latin typeface="Segoe UI"/>
              </a:rPr>
              <a:t> zu sein.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94960"/>
            <a:ext cx="731822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050" b="0">
                <a:solidFill>
                  <a:srgbClr val="5B666D"/>
                </a:solidFill>
                <a:latin typeface="Consolas"/>
              </a:rPr>
              <a:t>Blockchain &amp; IoT Hackathon  ·  HSLU Informatik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050" b="0">
                <a:solidFill>
                  <a:srgbClr val="5B666D"/>
                </a:solidFill>
                <a:latin typeface="Consolas"/>
              </a:rPr>
              <a:t>Live auf Sepolia  ·  vier Haushalte  ·  eine Abrechnung pro Minute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6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80">
                <a:solidFill>
                  <a:srgbClr val="5B666D"/>
                </a:solidFill>
                <a:latin typeface="Consolas"/>
              </a:rPr>
              <a:t>DAS PROBLEM DES VERTEILNETZBETREIBERS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51560"/>
            <a:ext cx="9618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spc="-80">
                <a:solidFill>
                  <a:srgbClr val="E7EDEF"/>
                </a:solidFill>
                <a:latin typeface="Segoe UI"/>
              </a:rPr>
              <a:t>Ein Verteilnetz wird für seine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100" b="1" spc="-80">
                <a:solidFill>
                  <a:srgbClr val="E7EDEF"/>
                </a:solidFill>
                <a:latin typeface="Segoe UI"/>
              </a:rPr>
              <a:t>schlimmsten 15 Minuten im Jahr gebaut.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2578608"/>
            <a:ext cx="8275320" cy="1115567"/>
          </a:xfrm>
          <a:prstGeom prst="rect">
            <a:avLst/>
          </a:prstGeom>
          <a:solidFill>
            <a:srgbClr val="E1573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188720" y="2578608"/>
            <a:ext cx="8275320" cy="1901952"/>
          </a:xfrm>
          <a:custGeom>
            <a:avLst/>
            <a:gdLst/>
            <a:ahLst/>
            <a:cxnLst/>
            <a:rect l="l" t="t" r="r" b="b"/>
            <a:pathLst>
              <a:path w="8275320" h="1901952">
                <a:moveTo>
                  <a:pt x="0" y="1112844"/>
                </a:moveTo>
                <a:lnTo>
                  <a:pt x="326657" y="1031910"/>
                </a:lnTo>
                <a:lnTo>
                  <a:pt x="653314" y="1153311"/>
                </a:lnTo>
                <a:lnTo>
                  <a:pt x="979972" y="981326"/>
                </a:lnTo>
                <a:lnTo>
                  <a:pt x="1306629" y="1092610"/>
                </a:lnTo>
                <a:lnTo>
                  <a:pt x="1633286" y="809341"/>
                </a:lnTo>
                <a:lnTo>
                  <a:pt x="1959944" y="0"/>
                </a:lnTo>
                <a:lnTo>
                  <a:pt x="2286601" y="789107"/>
                </a:lnTo>
                <a:lnTo>
                  <a:pt x="2613258" y="1072377"/>
                </a:lnTo>
                <a:lnTo>
                  <a:pt x="2939916" y="1133077"/>
                </a:lnTo>
                <a:lnTo>
                  <a:pt x="3266573" y="1011676"/>
                </a:lnTo>
                <a:lnTo>
                  <a:pt x="3593231" y="1153311"/>
                </a:lnTo>
                <a:lnTo>
                  <a:pt x="3919888" y="1092610"/>
                </a:lnTo>
                <a:lnTo>
                  <a:pt x="4246545" y="991443"/>
                </a:lnTo>
                <a:lnTo>
                  <a:pt x="4573203" y="1133077"/>
                </a:lnTo>
                <a:lnTo>
                  <a:pt x="4899860" y="1052143"/>
                </a:lnTo>
                <a:lnTo>
                  <a:pt x="5226517" y="1153311"/>
                </a:lnTo>
                <a:lnTo>
                  <a:pt x="5553175" y="1011676"/>
                </a:lnTo>
                <a:lnTo>
                  <a:pt x="5879832" y="1112844"/>
                </a:lnTo>
                <a:lnTo>
                  <a:pt x="6206490" y="971209"/>
                </a:lnTo>
                <a:lnTo>
                  <a:pt x="6533147" y="1133077"/>
                </a:lnTo>
                <a:lnTo>
                  <a:pt x="6859804" y="1031910"/>
                </a:lnTo>
                <a:lnTo>
                  <a:pt x="7186462" y="1173544"/>
                </a:lnTo>
                <a:lnTo>
                  <a:pt x="7513119" y="1092610"/>
                </a:lnTo>
                <a:lnTo>
                  <a:pt x="7839776" y="991443"/>
                </a:lnTo>
                <a:lnTo>
                  <a:pt x="8166434" y="1133077"/>
                </a:lnTo>
                <a:lnTo>
                  <a:pt x="8275320" y="1052143"/>
                </a:lnTo>
                <a:lnTo>
                  <a:pt x="8275320" y="1901952"/>
                </a:lnTo>
                <a:lnTo>
                  <a:pt x="0" y="1901952"/>
                </a:lnTo>
                <a:close/>
              </a:path>
            </a:pathLst>
          </a:custGeom>
          <a:solidFill>
            <a:srgbClr val="49C9B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188720" y="2578608"/>
            <a:ext cx="8275320" cy="1173544"/>
          </a:xfrm>
          <a:custGeom>
            <a:avLst/>
            <a:gdLst/>
            <a:ahLst/>
            <a:cxnLst/>
            <a:rect l="l" t="t" r="r" b="b"/>
            <a:pathLst>
              <a:path w="8275320" h="1173544">
                <a:moveTo>
                  <a:pt x="0" y="1112844"/>
                </a:moveTo>
                <a:lnTo>
                  <a:pt x="326657" y="1031910"/>
                </a:lnTo>
                <a:lnTo>
                  <a:pt x="653314" y="1153311"/>
                </a:lnTo>
                <a:lnTo>
                  <a:pt x="979972" y="981326"/>
                </a:lnTo>
                <a:lnTo>
                  <a:pt x="1306629" y="1092610"/>
                </a:lnTo>
                <a:lnTo>
                  <a:pt x="1633286" y="809341"/>
                </a:lnTo>
                <a:lnTo>
                  <a:pt x="1959944" y="0"/>
                </a:lnTo>
                <a:lnTo>
                  <a:pt x="2286601" y="789107"/>
                </a:lnTo>
                <a:lnTo>
                  <a:pt x="2613258" y="1072377"/>
                </a:lnTo>
                <a:lnTo>
                  <a:pt x="2939916" y="1133077"/>
                </a:lnTo>
                <a:lnTo>
                  <a:pt x="3266573" y="1011676"/>
                </a:lnTo>
                <a:lnTo>
                  <a:pt x="3593231" y="1153311"/>
                </a:lnTo>
                <a:lnTo>
                  <a:pt x="3919888" y="1092610"/>
                </a:lnTo>
                <a:lnTo>
                  <a:pt x="4246545" y="991443"/>
                </a:lnTo>
                <a:lnTo>
                  <a:pt x="4573203" y="1133077"/>
                </a:lnTo>
                <a:lnTo>
                  <a:pt x="4899860" y="1052143"/>
                </a:lnTo>
                <a:lnTo>
                  <a:pt x="5226517" y="1153311"/>
                </a:lnTo>
                <a:lnTo>
                  <a:pt x="5553175" y="1011676"/>
                </a:lnTo>
                <a:lnTo>
                  <a:pt x="5879832" y="1112844"/>
                </a:lnTo>
                <a:lnTo>
                  <a:pt x="6206490" y="971209"/>
                </a:lnTo>
                <a:lnTo>
                  <a:pt x="6533147" y="1133077"/>
                </a:lnTo>
                <a:lnTo>
                  <a:pt x="6859804" y="1031910"/>
                </a:lnTo>
                <a:lnTo>
                  <a:pt x="7186462" y="1173544"/>
                </a:lnTo>
                <a:lnTo>
                  <a:pt x="7513119" y="1092610"/>
                </a:lnTo>
                <a:lnTo>
                  <a:pt x="7839776" y="991443"/>
                </a:lnTo>
                <a:lnTo>
                  <a:pt x="8166434" y="1133077"/>
                </a:lnTo>
                <a:lnTo>
                  <a:pt x="8275320" y="1052143"/>
                </a:lnTo>
              </a:path>
            </a:pathLst>
          </a:custGeom>
          <a:noFill/>
          <a:ln w="28575">
            <a:solidFill>
              <a:srgbClr val="49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188720" y="2578608"/>
            <a:ext cx="8275320" cy="0"/>
          </a:xfrm>
          <a:prstGeom prst="line">
            <a:avLst/>
          </a:prstGeom>
          <a:ln w="22225">
            <a:solidFill>
              <a:srgbClr val="E1573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3694176"/>
            <a:ext cx="8275320" cy="0"/>
          </a:xfrm>
          <a:prstGeom prst="line">
            <a:avLst/>
          </a:prstGeom>
          <a:ln w="13970">
            <a:solidFill>
              <a:srgbClr val="8B98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88720" y="4480560"/>
            <a:ext cx="8275320" cy="0"/>
          </a:xfrm>
          <a:prstGeom prst="line">
            <a:avLst/>
          </a:prstGeom>
          <a:ln w="15875">
            <a:solidFill>
              <a:srgbClr val="2A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23560" y="2304288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1573F"/>
                </a:solidFill>
                <a:latin typeface="Consolas"/>
              </a:rPr>
              <a:t>Kapazität, die gebaut werden musste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2056" y="3611880"/>
            <a:ext cx="1783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B98A0"/>
                </a:solidFill>
                <a:latin typeface="Consolas"/>
              </a:rPr>
              <a:t>Durchschnittslast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14553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1573F"/>
                </a:solidFill>
                <a:latin typeface="Consolas"/>
              </a:rPr>
              <a:t>gebaut, nie genutzt</a:t>
            </a:r>
          </a:p>
        </p:txBody>
      </p:sp>
      <p:sp>
        <p:nvSpPr>
          <p:cNvPr id="13" name="Oval 12"/>
          <p:cNvSpPr/>
          <p:nvPr/>
        </p:nvSpPr>
        <p:spPr>
          <a:xfrm>
            <a:off x="3098372" y="2528316"/>
            <a:ext cx="100584" cy="100584"/>
          </a:xfrm>
          <a:prstGeom prst="ellipse">
            <a:avLst/>
          </a:prstGeom>
          <a:solidFill>
            <a:srgbClr val="0F1417"/>
          </a:solidFill>
          <a:ln w="25400">
            <a:solidFill>
              <a:srgbClr val="49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59944" y="224942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E7EDEF"/>
                </a:solidFill>
                <a:latin typeface="Consolas"/>
              </a:rPr>
              <a:t>ein Abend im Januar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66D"/>
                </a:solidFill>
                <a:latin typeface="Consolas"/>
              </a:rPr>
              <a:t>Jan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57200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5B666D"/>
                </a:solidFill>
                <a:latin typeface="Consolas"/>
              </a:rPr>
              <a:t>Dez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074920"/>
            <a:ext cx="85727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8B98A0"/>
                </a:solidFill>
                <a:latin typeface="Segoe UI"/>
              </a:rPr>
              <a:t>Jedes Kilowatt Spitzenlast, das er </a:t>
            </a:r>
            <a:r>
              <a:rPr sz="1500" b="0">
                <a:solidFill>
                  <a:srgbClr val="E7EDEF"/>
                </a:solidFill>
                <a:latin typeface="Segoe UI"/>
              </a:rPr>
              <a:t>nicht vorhersehen kann</a:t>
            </a:r>
            <a:r>
              <a:rPr sz="1500" b="0">
                <a:solidFill>
                  <a:srgbClr val="8B98A0"/>
                </a:solidFill>
                <a:latin typeface="Segoe UI"/>
              </a:rPr>
              <a:t>, ist Kupfer und Beton — einmal gebaut, nie genutzt.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8B98A0"/>
                </a:solidFill>
                <a:latin typeface="Segoe UI"/>
              </a:rPr>
              <a:t>Sein Problem war nie die Energie. Es ist die </a:t>
            </a:r>
            <a:r>
              <a:rPr sz="1500" b="0">
                <a:solidFill>
                  <a:srgbClr val="E2A339"/>
                </a:solidFill>
                <a:latin typeface="Segoe UI"/>
              </a:rPr>
              <a:t>Schwankung</a:t>
            </a:r>
            <a:r>
              <a:rPr sz="1500" b="0">
                <a:solidFill>
                  <a:srgbClr val="8B98A0"/>
                </a:solidFill>
                <a:latin typeface="Segoe U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96" cy="25603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6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80">
                <a:solidFill>
                  <a:srgbClr val="5B666D"/>
                </a:solidFill>
                <a:latin typeface="Consolas"/>
              </a:rPr>
              <a:t>UND DIESES JAHR WURDE ES SCHWIERIGER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54609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400" b="0" spc="-200">
                <a:solidFill>
                  <a:srgbClr val="49C9B0"/>
                </a:solidFill>
                <a:latin typeface="Consolas"/>
              </a:rPr>
              <a:t>01.01.2026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857277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spc="-88">
                <a:solidFill>
                  <a:srgbClr val="E7EDEF"/>
                </a:solidFill>
                <a:latin typeface="Segoe UI"/>
              </a:rPr>
              <a:t>Lokale Elektrizitätsgemeinschaften wurden legal.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60520"/>
            <a:ext cx="815459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8B98A0"/>
                </a:solidFill>
                <a:latin typeface="Segoe UI"/>
              </a:rPr>
              <a:t>Nachbarn dürfen Strom jetzt lokal handeln — zu reduziertem Netznutzungstarif. Tausende LEG sind plötzlich möglich.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8B98A0"/>
                </a:solidFill>
                <a:latin typeface="Segoe UI"/>
              </a:rPr>
              <a:t>Und jede einzelne macht die lokalen Lastflüsse bidirektionaler und volatiler — </a:t>
            </a:r>
            <a:r>
              <a:rPr sz="1500" b="0">
                <a:solidFill>
                  <a:srgbClr val="E7EDEF"/>
                </a:solidFill>
                <a:latin typeface="Segoe UI"/>
              </a:rPr>
              <a:t>und niemand prognostiziert sie.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438393" cy="25603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6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80">
                <a:solidFill>
                  <a:srgbClr val="5B666D"/>
                </a:solidFill>
                <a:latin typeface="Consolas"/>
              </a:rPr>
              <a:t>ZWEI MITGLIEDER DERSELBEN GEMEINSCHAFT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325880"/>
            <a:ext cx="4343400" cy="29260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2704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spc="-70">
                <a:solidFill>
                  <a:srgbClr val="E7EDEF"/>
                </a:solidFill>
                <a:latin typeface="Segoe UI"/>
              </a:rPr>
              <a:t>Marco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7568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8B98A0"/>
                </a:solidFill>
                <a:latin typeface="Segoe UI"/>
              </a:rPr>
              <a:t>Besitzt sein Dach. Hat alles richtig gemacht.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24328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5B666D"/>
                </a:solidFill>
                <a:latin typeface="Consolas"/>
              </a:rPr>
              <a:t>PV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5B666D"/>
                </a:solidFill>
                <a:latin typeface="Consolas"/>
              </a:rPr>
              <a:t>Batterie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5B666D"/>
                </a:solidFill>
                <a:latin typeface="Consolas"/>
              </a:rPr>
              <a:t>Grundlast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624328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E7EDEF"/>
                </a:solidFill>
                <a:latin typeface="Consolas"/>
              </a:rPr>
              <a:t>8,0 kWp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E7EDEF"/>
                </a:solidFill>
                <a:latin typeface="Consolas"/>
              </a:rPr>
              <a:t>10,0 kWh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E7EDEF"/>
                </a:solidFill>
                <a:latin typeface="Consolas"/>
              </a:rPr>
              <a:t>0,4 kWh/h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13048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Mittags speist er ein — für einen Bruchteil dessen,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was er um 19:00 zurückkauft.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4343400" cy="29260"/>
          </a:xfrm>
          <a:prstGeom prst="rect">
            <a:avLst/>
          </a:prstGeom>
          <a:solidFill>
            <a:srgbClr val="E2A3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27048"/>
            <a:ext cx="4343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spc="-70">
                <a:solidFill>
                  <a:srgbClr val="E7EDEF"/>
                </a:solidFill>
                <a:latin typeface="Segoe UI"/>
              </a:rPr>
              <a:t>Vreni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75688"/>
            <a:ext cx="4343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8B98A0"/>
                </a:solidFill>
                <a:latin typeface="Segoe UI"/>
              </a:rPr>
              <a:t>Mietet. Kann nie etwas installieren.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24328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5B666D"/>
                </a:solidFill>
                <a:latin typeface="Consolas"/>
              </a:rPr>
              <a:t>PV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5B666D"/>
                </a:solidFill>
                <a:latin typeface="Consolas"/>
              </a:rPr>
              <a:t>Batterie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5B666D"/>
                </a:solidFill>
                <a:latin typeface="Consolas"/>
              </a:rPr>
              <a:t>Grundlast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624328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8B98A0"/>
                </a:solidFill>
                <a:latin typeface="Consolas"/>
              </a:rPr>
              <a:t>0 kWp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8B98A0"/>
                </a:solidFill>
                <a:latin typeface="Consolas"/>
              </a:rPr>
              <a:t>0 kWh</a:t>
            </a:r>
          </a:p>
          <a:p>
            <a:pPr algn="l">
              <a:lnSpc>
                <a:spcPct val="165000"/>
              </a:lnSpc>
              <a:spcAft>
                <a:spcPts val="0"/>
              </a:spcAft>
            </a:pPr>
            <a:r>
              <a:rPr sz="1150" b="0">
                <a:solidFill>
                  <a:srgbClr val="8B98A0"/>
                </a:solidFill>
                <a:latin typeface="Consolas"/>
              </a:rPr>
              <a:t>0,8 kWh/h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813048"/>
            <a:ext cx="4343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Das vergessene Mitglied der Gemeinschaft 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nichts zu verkaufen, nichts zu gewinnen.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1325880"/>
            <a:ext cx="0" cy="3017520"/>
          </a:xfrm>
          <a:prstGeom prst="line">
            <a:avLst/>
          </a:prstGeom>
          <a:ln w="12700">
            <a:solidFill>
              <a:srgbClr val="2A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349240"/>
            <a:ext cx="752731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spc="-55">
                <a:solidFill>
                  <a:srgbClr val="E7EDEF"/>
                </a:solidFill>
                <a:latin typeface="Segoe UI"/>
              </a:rPr>
              <a:t>300 Meter auseinander. Derselbe Trafo.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100" b="1" spc="-55">
                <a:solidFill>
                  <a:srgbClr val="E2A339"/>
                </a:solidFill>
                <a:latin typeface="Segoe UI"/>
              </a:rPr>
              <a:t>Sein Überschuss und ihre Abendspitze treffen sich nie.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3657590" cy="25603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91640"/>
            <a:ext cx="836368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 spc="-105">
                <a:solidFill>
                  <a:srgbClr val="E7EDEF"/>
                </a:solidFill>
                <a:latin typeface="Segoe UI"/>
              </a:rPr>
              <a:t>Ein Netz ist günstiger zu betreiben, wenn die Last vorhersehbar ist.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11880"/>
            <a:ext cx="8363687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000" b="1" spc="-105">
                <a:solidFill>
                  <a:srgbClr val="E2A339"/>
                </a:solidFill>
                <a:latin typeface="Segoe UI"/>
              </a:rPr>
              <a:t>Also bezahlen wir Haushalte für Planbarkeit — nicht für Verzicht.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623560"/>
            <a:ext cx="75273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5B666D"/>
                </a:solidFill>
                <a:latin typeface="Segoe UI"/>
              </a:rPr>
              <a:t>A grid is cheaper to run when demand is predictable. So we pay households for predictability — not for using less.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876787" cy="25603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48840"/>
            <a:ext cx="1219196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0" b="1" spc="-420">
                <a:solidFill>
                  <a:srgbClr val="49C9B0"/>
                </a:solidFill>
                <a:latin typeface="Segoe UI"/>
              </a:rPr>
              <a:t>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977639"/>
            <a:ext cx="1219196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8B98A0"/>
                </a:solidFill>
                <a:latin typeface="Segoe UI"/>
              </a:rPr>
              <a:t>Vier Haushalte auf einer öffentlichen Blockchain.</a:t>
            </a:r>
          </a:p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8B98A0"/>
                </a:solidFill>
                <a:latin typeface="Segoe UI"/>
              </a:rPr>
              <a:t>Eine Abrechnung pro Minute. </a:t>
            </a:r>
            <a:r>
              <a:rPr sz="1600" b="0">
                <a:solidFill>
                  <a:srgbClr val="E7EDEF"/>
                </a:solidFill>
                <a:latin typeface="Segoe UI"/>
              </a:rPr>
              <a:t>Nichts davon ist ein Mock-up.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349240"/>
            <a:ext cx="1219196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80000"/>
              </a:lnSpc>
              <a:spcAft>
                <a:spcPts val="0"/>
              </a:spcAft>
            </a:pPr>
            <a:r>
              <a:rPr sz="950" b="0">
                <a:solidFill>
                  <a:srgbClr val="333C42"/>
                </a:solidFill>
                <a:latin typeface="Consolas"/>
              </a:rPr>
              <a:t>0xcA50…9c3C   ·   0x6FbB…9415   ·   0x3973…097F   ·   0xfc12…8705</a:t>
            </a:r>
          </a:p>
          <a:p>
            <a:pPr algn="ctr">
              <a:lnSpc>
                <a:spcPct val="180000"/>
              </a:lnSpc>
              <a:spcAft>
                <a:spcPts val="0"/>
              </a:spcAft>
            </a:pPr>
            <a:r>
              <a:rPr sz="950" b="0">
                <a:solidFill>
                  <a:srgbClr val="333C42"/>
                </a:solidFill>
                <a:latin typeface="Consolas"/>
              </a:rPr>
              <a:t>sepolia  ·  chain 11155111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095984" cy="25603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6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80">
                <a:solidFill>
                  <a:srgbClr val="5B666D"/>
                </a:solidFill>
                <a:latin typeface="Consolas"/>
              </a:rPr>
              <a:t>EINE STUNDE IM VORAUS, PRO HAUSHALT  ·  VALIDIERT AUF ZURÜCKGEHALTENEN MESSREIHEN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920240"/>
            <a:ext cx="2579362" cy="2331720"/>
          </a:xfrm>
          <a:prstGeom prst="rect">
            <a:avLst/>
          </a:prstGeom>
          <a:solidFill>
            <a:srgbClr val="1B2329"/>
          </a:solidFill>
          <a:ln w="12700">
            <a:solidFill>
              <a:srgbClr val="2A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" y="2167128"/>
            <a:ext cx="21404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0" spc="-90">
                <a:solidFill>
                  <a:srgbClr val="E2A339"/>
                </a:solidFill>
                <a:latin typeface="Consolas"/>
              </a:rPr>
              <a:t>81 %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" y="2971800"/>
            <a:ext cx="2140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besser als das naive Referenzmodell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3904487"/>
            <a:ext cx="2140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66D"/>
                </a:solidFill>
                <a:latin typeface="Consolas"/>
              </a:rPr>
              <a:t>30,5 Wh statt 161,2 Wh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762" y="1920240"/>
            <a:ext cx="2579362" cy="2331720"/>
          </a:xfrm>
          <a:prstGeom prst="rect">
            <a:avLst/>
          </a:prstGeom>
          <a:solidFill>
            <a:srgbClr val="161D22"/>
          </a:solidFill>
          <a:ln w="12700">
            <a:solidFill>
              <a:srgbClr val="2A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3218" y="2167128"/>
            <a:ext cx="21404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0" spc="-90">
                <a:solidFill>
                  <a:srgbClr val="E7EDEF"/>
                </a:solidFill>
                <a:latin typeface="Consolas"/>
              </a:rPr>
              <a:t>15,9 %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3218" y="2971800"/>
            <a:ext cx="2140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Prognosefehler Verbrauch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3218" y="3904487"/>
            <a:ext cx="2140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66D"/>
                </a:solidFill>
                <a:latin typeface="Consolas"/>
              </a:rPr>
              <a:t>Rauschniveau ~ 7,5 %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8844" y="1920240"/>
            <a:ext cx="2579362" cy="2331720"/>
          </a:xfrm>
          <a:prstGeom prst="rect">
            <a:avLst/>
          </a:prstGeom>
          <a:solidFill>
            <a:srgbClr val="161D22"/>
          </a:solidFill>
          <a:ln w="12700">
            <a:solidFill>
              <a:srgbClr val="2A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8300" y="2167128"/>
            <a:ext cx="21404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0" spc="-90">
                <a:solidFill>
                  <a:srgbClr val="E7EDEF"/>
                </a:solidFill>
                <a:latin typeface="Consolas"/>
              </a:rPr>
              <a:t>4,7 %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8300" y="2971800"/>
            <a:ext cx="2140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Prognosefehler Produktion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8300" y="3904487"/>
            <a:ext cx="2140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66D"/>
                </a:solidFill>
                <a:latin typeface="Consolas"/>
              </a:rPr>
              <a:t>MAE 12,7 Wh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43927" y="1920240"/>
            <a:ext cx="2579362" cy="2331720"/>
          </a:xfrm>
          <a:prstGeom prst="rect">
            <a:avLst/>
          </a:prstGeom>
          <a:solidFill>
            <a:srgbClr val="161D22"/>
          </a:solidFill>
          <a:ln w="12700">
            <a:solidFill>
              <a:srgbClr val="2A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3383" y="2167128"/>
            <a:ext cx="21404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0" spc="-90">
                <a:solidFill>
                  <a:srgbClr val="E7EDEF"/>
                </a:solidFill>
                <a:latin typeface="Consolas"/>
              </a:rPr>
              <a:t>0,2433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3383" y="2971800"/>
            <a:ext cx="2140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Panel-Physik, allein aus dem Zähler gelernt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3383" y="3904487"/>
            <a:ext cx="214045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5B666D"/>
                </a:solidFill>
                <a:latin typeface="Consolas"/>
              </a:rPr>
              <a:t>echter Wert 0,2500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836368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0">
                <a:solidFill>
                  <a:srgbClr val="8B98A0"/>
                </a:solidFill>
                <a:latin typeface="Segoe UI"/>
              </a:rPr>
              <a:t>Niemand hat dem Modell erklärt, wie eine Solaranlage funktioniert.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E7EDEF"/>
                </a:solidFill>
                <a:latin typeface="Segoe UI"/>
              </a:rPr>
              <a:t>Es hat die Steigung vom Dach abgelesen.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7315181" cy="25603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6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80">
                <a:solidFill>
                  <a:srgbClr val="5B666D"/>
                </a:solidFill>
                <a:latin typeface="Consolas"/>
              </a:rPr>
              <a:t>WARUM DAS ÜBERHAUPT EINE BLOCKCHAIN BRAUCHT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7527318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spc="-78">
                <a:solidFill>
                  <a:srgbClr val="E7EDEF"/>
                </a:solidFill>
                <a:latin typeface="Segoe UI"/>
              </a:rPr>
              <a:t>Die KI darf ihre eigene Prognose nicht selbst bewerten.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212848"/>
            <a:ext cx="3017520" cy="1024128"/>
          </a:xfrm>
          <a:prstGeom prst="rect">
            <a:avLst/>
          </a:prstGeom>
          <a:solidFill>
            <a:srgbClr val="161D22"/>
          </a:solidFill>
          <a:ln w="19050">
            <a:solidFill>
              <a:srgbClr val="49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6829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spc="-40">
                <a:solidFill>
                  <a:srgbClr val="E7EDEF"/>
                </a:solidFill>
                <a:latin typeface="Segoe UI"/>
              </a:rPr>
              <a:t>PROGNOSE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B98A0"/>
                </a:solidFill>
                <a:latin typeface="Consolas"/>
              </a:rPr>
              <a:t>festgeschrieben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4436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9C9B0"/>
                </a:solidFill>
                <a:latin typeface="Consolas"/>
              </a:rPr>
              <a:t>vor der Stunde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212848"/>
            <a:ext cx="3017520" cy="1024128"/>
          </a:xfrm>
          <a:prstGeom prst="rect">
            <a:avLst/>
          </a:prstGeom>
          <a:solidFill>
            <a:srgbClr val="161D22"/>
          </a:solidFill>
          <a:ln w="19050">
            <a:solidFill>
              <a:srgbClr val="49C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36829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spc="-40">
                <a:solidFill>
                  <a:srgbClr val="E7EDEF"/>
                </a:solidFill>
                <a:latin typeface="Segoe UI"/>
              </a:rPr>
              <a:t>ZÄHLER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7432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B98A0"/>
                </a:solidFill>
                <a:latin typeface="Consolas"/>
              </a:rPr>
              <a:t>erfasst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94436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9C9B0"/>
                </a:solidFill>
                <a:latin typeface="Consolas"/>
              </a:rPr>
              <a:t>nach der Stunde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59" y="2212848"/>
            <a:ext cx="3017520" cy="1024128"/>
          </a:xfrm>
          <a:prstGeom prst="rect">
            <a:avLst/>
          </a:prstGeom>
          <a:solidFill>
            <a:srgbClr val="161D22"/>
          </a:solidFill>
          <a:ln w="19050">
            <a:solidFill>
              <a:srgbClr val="E2A3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59" y="236829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 spc="-40">
                <a:solidFill>
                  <a:srgbClr val="E7EDEF"/>
                </a:solidFill>
                <a:latin typeface="Segoe UI"/>
              </a:rPr>
              <a:t>PREIS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59" y="27432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B98A0"/>
                </a:solidFill>
                <a:latin typeface="Consolas"/>
              </a:rPr>
              <a:t>on-chain berechnet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59" y="294436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2A339"/>
                </a:solidFill>
                <a:latin typeface="Consolas"/>
              </a:rPr>
              <a:t>jeder kann es prüfen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22776" y="2724912"/>
            <a:ext cx="429768" cy="0"/>
          </a:xfrm>
          <a:prstGeom prst="line">
            <a:avLst/>
          </a:prstGeom>
          <a:ln w="17780">
            <a:solidFill>
              <a:srgbClr val="5B66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43215" y="2724912"/>
            <a:ext cx="429768" cy="0"/>
          </a:xfrm>
          <a:prstGeom prst="line">
            <a:avLst/>
          </a:prstGeom>
          <a:ln w="17780">
            <a:solidFill>
              <a:srgbClr val="5B66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60520" y="4224528"/>
            <a:ext cx="3474720" cy="530352"/>
          </a:xfrm>
          <a:prstGeom prst="rect">
            <a:avLst/>
          </a:prstGeom>
          <a:solidFill>
            <a:srgbClr val="1B2329"/>
          </a:solidFill>
          <a:ln w="19050">
            <a:solidFill>
              <a:srgbClr val="2A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437083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 spc="-25">
                <a:solidFill>
                  <a:srgbClr val="8B98A0"/>
                </a:solidFill>
                <a:latin typeface="Segoe UI"/>
              </a:rPr>
              <a:t>PROGNOSE-KI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2528315" y="3264408"/>
            <a:ext cx="1906525" cy="960120"/>
          </a:xfrm>
          <a:prstGeom prst="line">
            <a:avLst/>
          </a:prstGeom>
          <a:ln w="25400">
            <a:solidFill>
              <a:srgbClr val="49C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371600" y="391363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49C9B0"/>
                </a:solidFill>
                <a:latin typeface="Consolas"/>
              </a:rPr>
              <a:t>darf versprechen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897879" y="3264408"/>
            <a:ext cx="0" cy="960120"/>
          </a:xfrm>
          <a:prstGeom prst="line">
            <a:avLst/>
          </a:prstGeom>
          <a:ln w="25400">
            <a:solidFill>
              <a:srgbClr val="E1573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742431" y="3730752"/>
            <a:ext cx="310896" cy="310896"/>
          </a:xfrm>
          <a:prstGeom prst="line">
            <a:avLst/>
          </a:prstGeom>
          <a:ln w="34925">
            <a:solidFill>
              <a:srgbClr val="E157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42431" y="3730752"/>
            <a:ext cx="310896" cy="310896"/>
          </a:xfrm>
          <a:prstGeom prst="line">
            <a:avLst/>
          </a:prstGeom>
          <a:ln w="34925">
            <a:solidFill>
              <a:srgbClr val="E157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72199" y="380390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E1573F"/>
                </a:solidFill>
                <a:latin typeface="Consolas"/>
              </a:rPr>
              <a:t>darf nicht melden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138928"/>
            <a:ext cx="920005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8B98A0"/>
                </a:solidFill>
                <a:latin typeface="Segoe UI"/>
              </a:rPr>
              <a:t>Eine Prognose ist nur Geld wert, wenn sie eine </a:t>
            </a:r>
            <a:r>
              <a:rPr sz="1450" b="1">
                <a:solidFill>
                  <a:srgbClr val="E7EDEF"/>
                </a:solidFill>
                <a:latin typeface="Segoe UI"/>
              </a:rPr>
              <a:t>Zusage</a:t>
            </a:r>
            <a:r>
              <a:rPr sz="1450" b="0">
                <a:solidFill>
                  <a:srgbClr val="8B98A0"/>
                </a:solidFill>
                <a:latin typeface="Segoe UI"/>
              </a:rPr>
              <a:t> ist — festgeschrieben, bevor das Ergebnis bekannt ist.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0">
                <a:solidFill>
                  <a:srgbClr val="8B98A0"/>
                </a:solidFill>
                <a:latin typeface="Segoe UI"/>
              </a:rPr>
              <a:t>Unser Contract nimmt keine Ist-Werte von der KI an, sondern liest den Zähler selbst.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8534378" cy="25603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6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80">
                <a:solidFill>
                  <a:srgbClr val="5B666D"/>
                </a:solidFill>
                <a:latin typeface="Consolas"/>
              </a:rPr>
              <a:t>WIE DAMIT GELD VERDIENT WIRD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773641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spc="-78">
                <a:solidFill>
                  <a:srgbClr val="E7EDEF"/>
                </a:solidFill>
                <a:latin typeface="Segoe UI"/>
              </a:rPr>
              <a:t>Der Haushalt ist nicht der Kunde. Der Netzbetreiber ist 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2267712"/>
            <a:ext cx="9200056" cy="0"/>
          </a:xfrm>
          <a:prstGeom prst="line">
            <a:avLst/>
          </a:prstGeom>
          <a:ln w="12700">
            <a:solidFill>
              <a:srgbClr val="2A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245059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49C9B0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2395728"/>
            <a:ext cx="8363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spc="-45">
                <a:solidFill>
                  <a:srgbClr val="E7EDEF"/>
                </a:solidFill>
                <a:latin typeface="Segoe UI"/>
              </a:rPr>
              <a:t>Abrechnung als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761488"/>
            <a:ext cx="75273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Pro Zähler, pro Monat. Eine LEG muss ihre internen Lastflüsse messen und abrechnen — gesetzlich. Heute ist das ein Excel. Bei uns läuft es schon.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3355848"/>
            <a:ext cx="9200056" cy="0"/>
          </a:xfrm>
          <a:prstGeom prst="line">
            <a:avLst/>
          </a:prstGeom>
          <a:ln w="12700">
            <a:solidFill>
              <a:srgbClr val="2A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353872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49C9B0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3483864"/>
            <a:ext cx="8363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spc="-45">
                <a:solidFill>
                  <a:srgbClr val="E7EDEF"/>
                </a:solidFill>
                <a:latin typeface="Segoe UI"/>
              </a:rPr>
              <a:t>Planbarkeit, verkauft ans Netz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3849624"/>
            <a:ext cx="75273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Wer lokale Lastflüsse prognostizieren kann, verschiebt den Netzausbau. Zehn Anbieter verkaufen Prognosen — wir verkaufen eine, die </a:t>
            </a:r>
            <a:r>
              <a:rPr sz="1250" b="0">
                <a:solidFill>
                  <a:srgbClr val="E7EDEF"/>
                </a:solidFill>
                <a:latin typeface="Segoe UI"/>
              </a:rPr>
              <a:t>an ein Preissignal gekoppelt ist, das Haushalte handeln lässt.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" y="4443984"/>
            <a:ext cx="9200056" cy="0"/>
          </a:xfrm>
          <a:prstGeom prst="line">
            <a:avLst/>
          </a:prstGeom>
          <a:ln w="12700">
            <a:solidFill>
              <a:srgbClr val="2A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46268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49C9B0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4572000"/>
            <a:ext cx="83636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spc="-45">
                <a:solidFill>
                  <a:srgbClr val="E7EDEF"/>
                </a:solidFill>
                <a:latin typeface="Segoe UI"/>
              </a:rPr>
              <a:t>Flexibilität aggregieren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937760"/>
            <a:ext cx="752731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8B98A0"/>
                </a:solidFill>
                <a:latin typeface="Segoe UI"/>
              </a:rPr>
              <a:t>Jede Batterie hat bei uns schon heute eine vertraglich gesteuerte, wetteradaptive Reserve. Das ist ein steuerbarer Pool — und der hat einen Marktpreis.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" y="5532120"/>
            <a:ext cx="9200056" cy="0"/>
          </a:xfrm>
          <a:prstGeom prst="line">
            <a:avLst/>
          </a:prstGeom>
          <a:ln w="12700">
            <a:solidFill>
              <a:srgbClr val="2A3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5861303"/>
            <a:ext cx="1045460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49C9B0"/>
                </a:solidFill>
                <a:latin typeface="Consolas"/>
              </a:rPr>
              <a:t>Ein Laptop. Keine GPU, keine Cloud, keine Datenbank. Grenzkosten pro zusätzlicher LEG ~ 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753575" cy="25603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66928"/>
            <a:ext cx="1045460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spc="180">
                <a:solidFill>
                  <a:srgbClr val="5B666D"/>
                </a:solidFill>
                <a:latin typeface="Consolas"/>
              </a:rPr>
              <a:t>WARUM DIESES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024128"/>
            <a:ext cx="83636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spc="-78">
                <a:solidFill>
                  <a:srgbClr val="E7EDEF"/>
                </a:solidFill>
                <a:latin typeface="Segoe UI"/>
              </a:rPr>
              <a:t>Wir kennen unser eigenes Rauschniveau.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000" b="1" spc="-78">
                <a:solidFill>
                  <a:srgbClr val="E7EDEF"/>
                </a:solidFill>
                <a:latin typeface="Segoe UI"/>
              </a:rPr>
              <a:t>Und haben die Zahl </a:t>
            </a:r>
            <a:r>
              <a:rPr sz="3000" b="1" spc="-78">
                <a:solidFill>
                  <a:srgbClr val="E2A339"/>
                </a:solidFill>
                <a:latin typeface="Segoe UI"/>
              </a:rPr>
              <a:t>darüber</a:t>
            </a:r>
            <a:r>
              <a:rPr sz="3000" b="1" spc="-78">
                <a:solidFill>
                  <a:srgbClr val="E7EDEF"/>
                </a:solidFill>
                <a:latin typeface="Segoe UI"/>
              </a:rPr>
              <a:t> berichtet.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1635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49C9B0"/>
                </a:solidFill>
                <a:latin typeface="Consolas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" y="2816352"/>
            <a:ext cx="85727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8B98A0"/>
                </a:solidFill>
                <a:latin typeface="Segoe UI"/>
              </a:rPr>
              <a:t>Das Rauschniveau unserer Daten liegt bei ~7,5 %. Wir behaupten 15,9 %. </a:t>
            </a:r>
            <a:r>
              <a:rPr sz="1300" b="0">
                <a:solidFill>
                  <a:srgbClr val="E7EDEF"/>
                </a:solidFill>
                <a:latin typeface="Segoe UI"/>
              </a:rPr>
              <a:t>Wir hätten 4 % sagen können</a:t>
            </a:r>
            <a:r>
              <a:rPr sz="1300" b="0">
                <a:solidFill>
                  <a:srgbClr val="8B98A0"/>
                </a:solidFill>
                <a:latin typeface="Segoe UI"/>
              </a:rPr>
              <a:t> — mit einem undichten Validierungssplit. Also haben wir ganze Messreihen zurückgehalten.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124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49C9B0"/>
                </a:solidFill>
                <a:latin typeface="Consola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3712464"/>
            <a:ext cx="85727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E7EDEF"/>
                </a:solidFill>
                <a:latin typeface="Segoe UI"/>
              </a:rPr>
              <a:t>Deployed, nicht gezeichnet.</a:t>
            </a:r>
            <a:r>
              <a:rPr sz="1300" b="0">
                <a:solidFill>
                  <a:srgbClr val="8B98A0"/>
                </a:solidFill>
                <a:latin typeface="Segoe UI"/>
              </a:rPr>
              <a:t> Ein laufendes System auf einem öffentlichen Netzwerk — in einer Woche, keine Roadmap-Folie.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0857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49C9B0"/>
                </a:solidFill>
                <a:latin typeface="Consola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4608576"/>
            <a:ext cx="857277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8B98A0"/>
                </a:solidFill>
                <a:latin typeface="Segoe UI"/>
              </a:rPr>
              <a:t>Wir haben die unglamourösen Entscheidungen getroffen: reentrancy-sichere Abrechnung, jeder Trade scheitert isoliert, idempotente Batterie-Entscheidungen — und </a:t>
            </a:r>
            <a:r>
              <a:rPr sz="1300" b="0">
                <a:solidFill>
                  <a:srgbClr val="E7EDEF"/>
                </a:solidFill>
                <a:latin typeface="Segoe UI"/>
              </a:rPr>
              <a:t>ein gemeinsamer Auswertungspfad, damit das Dashboard der Rechnung nie widersprechen kann.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669280"/>
            <a:ext cx="89909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50" b="0">
                <a:solidFill>
                  <a:srgbClr val="8B98A0"/>
                </a:solidFill>
                <a:latin typeface="Segoe UI"/>
              </a:rPr>
              <a:t>Das ist das eigentliche Versprechen: </a:t>
            </a:r>
            <a:r>
              <a:rPr sz="1550" b="0">
                <a:solidFill>
                  <a:srgbClr val="E2A339"/>
                </a:solidFill>
                <a:latin typeface="Segoe UI"/>
              </a:rPr>
              <a:t>Wir sagen Ihnen die Wahrheit über Ihr Netz.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0972772" cy="25603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188720"/>
            <a:ext cx="94091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49C9B0"/>
                </a:solidFill>
                <a:latin typeface="Consolas"/>
              </a:rPr>
              <a:t>Was wir suchen  →  eine echte LEG  ·  ein Netzbetreiber  ·  ein Winter mit echten Daten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815459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 spc="-125">
                <a:solidFill>
                  <a:srgbClr val="E7EDEF"/>
                </a:solidFill>
                <a:latin typeface="Segoe UI"/>
              </a:rPr>
              <a:t>Bezahlt die Leute nicht für Verzicht.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 spc="-125">
                <a:solidFill>
                  <a:srgbClr val="E2A339"/>
                </a:solidFill>
                <a:latin typeface="Segoe UI"/>
              </a:rPr>
              <a:t>Bezahlt sie für Planbarkeit.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166360"/>
            <a:ext cx="752731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8B98A0"/>
                </a:solidFill>
                <a:latin typeface="Segoe UI"/>
              </a:rPr>
              <a:t>Vreni wird nie ein Dach besitzen. Aber sie kann den Geschirrspüler laufen lassen, wenn die Nachbarschaft Überschuss hat — und wird dafür bezahlt.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25603"/>
          </a:xfrm>
          <a:prstGeom prst="rect">
            <a:avLst/>
          </a:prstGeom>
          <a:solidFill>
            <a:srgbClr val="49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26009" y="645566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spc="60">
                <a:solidFill>
                  <a:srgbClr val="39434A"/>
                </a:solidFill>
                <a:latin typeface="Consola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